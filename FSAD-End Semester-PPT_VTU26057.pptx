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9" r:id="rId11"/>
    <p:sldId id="267" r:id="rId12"/>
    <p:sldId id="268" r:id="rId13"/>
    <p:sldId id="272" r:id="rId14"/>
    <p:sldId id="271" r:id="rId15"/>
    <p:sldId id="273" r:id="rId16"/>
    <p:sldId id="270" r:id="rId17"/>
    <p:sldId id="265" r:id="rId18"/>
  </p:sldIdLst>
  <p:sldSz cx="18288000" cy="10287000"/>
  <p:notesSz cx="6858000" cy="9144000"/>
  <p:embeddedFontLst>
    <p:embeddedFont>
      <p:font typeface="Bookman Old Style" panose="02050604050505020204" pitchFamily="18" charset="0"/>
      <p:regular r:id="rId19"/>
      <p:bold r:id="rId20"/>
      <p:italic r:id="rId21"/>
      <p:boldItalic r:id="rId22"/>
    </p:embeddedFont>
    <p:embeddedFont>
      <p:font typeface="Cambria" panose="02040503050406030204" pitchFamily="18" charset="0"/>
      <p:regular r:id="rId23"/>
      <p:bold r:id="rId24"/>
      <p:italic r:id="rId25"/>
      <p:boldItalic r:id="rId26"/>
    </p:embeddedFont>
    <p:embeddedFont>
      <p:font typeface="Gotham" panose="020B0604020202020204" charset="0"/>
      <p:regular r:id="rId27"/>
    </p:embeddedFont>
    <p:embeddedFont>
      <p:font typeface="Gotham Bold Italics" panose="020B0604020202020204" charset="0"/>
      <p:regular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5"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45" d="100"/>
          <a:sy n="45" d="100"/>
        </p:scale>
        <p:origin x="20" y="144"/>
      </p:cViewPr>
      <p:guideLst>
        <p:guide orient="horz" pos="2175"/>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pic>
        <p:nvPicPr>
          <p:cNvPr id="23" name="Picture 22"/>
          <p:cNvPicPr>
            <a:picLocks noChangeAspect="1"/>
          </p:cNvPicPr>
          <p:nvPr/>
        </p:nvPicPr>
        <p:blipFill>
          <a:blip r:embed="rId2"/>
          <a:stretch>
            <a:fillRect/>
          </a:stretch>
        </p:blipFill>
        <p:spPr>
          <a:xfrm>
            <a:off x="6799772" y="16492"/>
            <a:ext cx="4131816" cy="1784622"/>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p:cNvSpPr txBox="1"/>
          <p:nvPr/>
        </p:nvSpPr>
        <p:spPr>
          <a:xfrm>
            <a:off x="1501640" y="6057900"/>
            <a:ext cx="15784162" cy="583565"/>
          </a:xfrm>
          <a:prstGeom prst="rect">
            <a:avLst/>
          </a:prstGeom>
          <a:noFill/>
        </p:spPr>
        <p:txBody>
          <a:bodyPr wrap="square" rtlCol="0">
            <a:spAutoFit/>
          </a:bodyPr>
          <a:lstStyle/>
          <a:p>
            <a:pPr algn="ctr"/>
            <a:r>
              <a:rPr lang="en-US" altLang="en-US" sz="3200" b="1" dirty="0">
                <a:solidFill>
                  <a:srgbClr val="0033CC"/>
                </a:solidFill>
                <a:latin typeface="Times New Roman" panose="02020603050405020304" pitchFamily="18" charset="0"/>
                <a:cs typeface="Times New Roman" panose="02020603050405020304" pitchFamily="18" charset="0"/>
              </a:rPr>
              <a:t>ONLINE TICKET BOOKING SYSTEMFOR COLLEGE EVENTS</a:t>
            </a:r>
          </a:p>
        </p:txBody>
      </p:sp>
      <p:sp>
        <p:nvSpPr>
          <p:cNvPr id="14" name="TextBox 13"/>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IN" sz="3000" dirty="0" err="1">
                <a:latin typeface="Cambria" panose="02040503050406030204" pitchFamily="18" charset="0"/>
                <a:ea typeface="Cambria" panose="02040503050406030204" pitchFamily="18" charset="0"/>
              </a:rPr>
              <a:t>N.Karthik</a:t>
            </a:r>
            <a:r>
              <a:rPr lang="en-IN" sz="3000" dirty="0">
                <a:latin typeface="Cambria" panose="02040503050406030204" pitchFamily="18" charset="0"/>
                <a:ea typeface="Cambria" panose="02040503050406030204" pitchFamily="18" charset="0"/>
              </a:rPr>
              <a:t> </a:t>
            </a:r>
            <a:r>
              <a:rPr lang="en-US" sz="3000" dirty="0">
                <a:latin typeface="Cambria" panose="02040503050406030204" pitchFamily="18" charset="0"/>
                <a:ea typeface="Cambria" panose="02040503050406030204" pitchFamily="18" charset="0"/>
              </a:rPr>
              <a:t>– VTU</a:t>
            </a:r>
            <a:r>
              <a:rPr lang="en-IN" altLang="en-US" sz="3000" dirty="0">
                <a:latin typeface="Cambria" panose="02040503050406030204" pitchFamily="18" charset="0"/>
                <a:ea typeface="Cambria" panose="02040503050406030204" pitchFamily="18" charset="0"/>
              </a:rPr>
              <a:t>26057 </a:t>
            </a:r>
            <a:r>
              <a:rPr lang="en-US" sz="3000" dirty="0">
                <a:latin typeface="Cambria" panose="02040503050406030204" pitchFamily="18" charset="0"/>
                <a:ea typeface="Cambria" panose="02040503050406030204" pitchFamily="18" charset="0"/>
              </a:rPr>
              <a:t>– </a:t>
            </a:r>
            <a:r>
              <a:rPr lang="en-US" sz="3000" dirty="0" err="1">
                <a:latin typeface="Cambria" panose="02040503050406030204" pitchFamily="18" charset="0"/>
                <a:ea typeface="Cambria" panose="02040503050406030204" pitchFamily="18" charset="0"/>
              </a:rPr>
              <a:t>Reg.No</a:t>
            </a:r>
            <a:r>
              <a:rPr lang="en-US" sz="3000" dirty="0">
                <a:latin typeface="Cambria" panose="02040503050406030204" pitchFamily="18" charset="0"/>
                <a:ea typeface="Cambria" panose="02040503050406030204" pitchFamily="18" charset="0"/>
              </a:rPr>
              <a:t>.</a:t>
            </a:r>
            <a:r>
              <a:rPr lang="en-IN" altLang="en-US" sz="3000" dirty="0">
                <a:latin typeface="Cambria" panose="02040503050406030204" pitchFamily="18" charset="0"/>
                <a:ea typeface="Cambria" panose="02040503050406030204" pitchFamily="18" charset="0"/>
              </a:rPr>
              <a:t>23UECS0385</a:t>
            </a:r>
          </a:p>
        </p:txBody>
      </p:sp>
      <p:sp>
        <p:nvSpPr>
          <p:cNvPr id="15" name="TextBox 14"/>
          <p:cNvSpPr txBox="1"/>
          <p:nvPr/>
        </p:nvSpPr>
        <p:spPr>
          <a:xfrm>
            <a:off x="10591975" y="7748736"/>
            <a:ext cx="6914603" cy="147637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altLang="en-US" sz="3000" dirty="0">
                <a:latin typeface="Cambria" panose="02040503050406030204" pitchFamily="18" charset="0"/>
                <a:ea typeface="Cambria" panose="02040503050406030204" pitchFamily="18" charset="0"/>
              </a:rPr>
              <a:t>Dr. Hafizur Rahman </a:t>
            </a:r>
            <a:r>
              <a:rPr lang="en-IN" altLang="en-US" sz="3000" dirty="0">
                <a:latin typeface="Cambria" panose="02040503050406030204" pitchFamily="18" charset="0"/>
                <a:ea typeface="Cambria" panose="02040503050406030204" pitchFamily="18" charset="0"/>
              </a:rPr>
              <a:t>-</a:t>
            </a:r>
            <a:r>
              <a:rPr lang="en-US" altLang="en-US" sz="3000" dirty="0">
                <a:latin typeface="Cambria" panose="02040503050406030204" pitchFamily="18" charset="0"/>
                <a:ea typeface="Cambria" panose="02040503050406030204" pitchFamily="18" charset="0"/>
              </a:rPr>
              <a:t>Assistant Professor</a:t>
            </a:r>
          </a:p>
        </p:txBody>
      </p:sp>
      <p:sp>
        <p:nvSpPr>
          <p:cNvPr id="16" name="TextBox 15"/>
          <p:cNvSpPr txBox="1"/>
          <p:nvPr/>
        </p:nvSpPr>
        <p:spPr>
          <a:xfrm>
            <a:off x="2286000" y="6972300"/>
            <a:ext cx="14743170" cy="398780"/>
          </a:xfrm>
          <a:prstGeom prst="rect">
            <a:avLst/>
          </a:prstGeom>
          <a:noFill/>
        </p:spPr>
        <p:txBody>
          <a:bodyPr wrap="square" rtlCol="0">
            <a:spAutoFit/>
          </a:bodyPr>
          <a:lstStyle/>
          <a:p>
            <a:r>
              <a:rPr lang="en-US" altLang="en-US" sz="2000" b="1" dirty="0">
                <a:latin typeface="Cambria" panose="02040503050406030204" pitchFamily="18" charset="0"/>
                <a:ea typeface="Cambria" panose="02040503050406030204" pitchFamily="18" charset="0"/>
              </a:rPr>
              <a:t>SDG 9: Industry, Innovation and Infrastructure</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dirty="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p:cNvSpPr txBox="1"/>
          <p:nvPr/>
        </p:nvSpPr>
        <p:spPr>
          <a:xfrm>
            <a:off x="152400" y="342900"/>
            <a:ext cx="15849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133600" y="2095500"/>
            <a:ext cx="15082520" cy="6562090"/>
          </a:xfrm>
          <a:prstGeom prst="rect">
            <a:avLst/>
          </a:prstGeom>
          <a:noFill/>
        </p:spPr>
        <p:txBody>
          <a:bodyPr wrap="square" rtlCol="0">
            <a:noAutofit/>
          </a:bodyPr>
          <a:lstStyle/>
          <a:p>
            <a:pPr marL="457200" indent="-457200">
              <a:buFontTx/>
              <a:buChar char="-"/>
            </a:pPr>
            <a:r>
              <a:rPr lang="en-US" altLang="en-US" sz="3000" dirty="0">
                <a:latin typeface="Times New Roman" panose="02020603050405020304" pitchFamily="18" charset="0"/>
                <a:cs typeface="Times New Roman" panose="02020603050405020304" pitchFamily="18" charset="0"/>
              </a:rPr>
              <a:t>Manual ticket booking for college events is often time-consuming, error-prone, and difficult to manage efficiently.</a:t>
            </a:r>
          </a:p>
          <a:p>
            <a:pPr marL="457200" indent="-457200">
              <a:buFontTx/>
              <a:buChar char="-"/>
            </a:pPr>
            <a:r>
              <a:rPr lang="en-US" altLang="en-US" sz="3000" dirty="0">
                <a:latin typeface="Times New Roman" panose="02020603050405020304" pitchFamily="18" charset="0"/>
                <a:cs typeface="Times New Roman" panose="02020603050405020304" pitchFamily="18" charset="0"/>
              </a:rPr>
              <a:t>Students may face issues like long queues, limited availability of information, and lack of transparency.</a:t>
            </a:r>
          </a:p>
          <a:p>
            <a:pPr marL="457200" indent="-457200">
              <a:buFontTx/>
              <a:buChar char="-"/>
            </a:pPr>
            <a:r>
              <a:rPr lang="en-US" altLang="en-US" sz="3000" dirty="0">
                <a:latin typeface="Times New Roman" panose="02020603050405020304" pitchFamily="18" charset="0"/>
                <a:cs typeface="Times New Roman" panose="02020603050405020304" pitchFamily="18" charset="0"/>
              </a:rPr>
              <a:t>This project is important as it digitizes the entire ticket booking process, making it faster and more reliable.</a:t>
            </a:r>
          </a:p>
          <a:p>
            <a:pPr marL="457200" indent="-457200">
              <a:buFontTx/>
              <a:buChar char="-"/>
            </a:pPr>
            <a:r>
              <a:rPr lang="en-US" altLang="en-US" sz="3000" dirty="0">
                <a:latin typeface="Times New Roman" panose="02020603050405020304" pitchFamily="18" charset="0"/>
                <a:cs typeface="Times New Roman" panose="02020603050405020304" pitchFamily="18" charset="0"/>
              </a:rPr>
              <a:t>It reduces manual effort and minimizes errors in ticket allocation and record management.</a:t>
            </a:r>
          </a:p>
          <a:p>
            <a:pPr marL="457200" indent="-457200">
              <a:buFontTx/>
              <a:buChar char="-"/>
            </a:pPr>
            <a:r>
              <a:rPr lang="en-US" altLang="en-US" sz="3000" dirty="0">
                <a:latin typeface="Times New Roman" panose="02020603050405020304" pitchFamily="18" charset="0"/>
                <a:cs typeface="Times New Roman" panose="02020603050405020304" pitchFamily="18" charset="0"/>
              </a:rPr>
              <a:t>In real-world scenarios, such systems are widely used in events, cinemas, and transportation services.</a:t>
            </a:r>
          </a:p>
          <a:p>
            <a:pPr marL="457200" indent="-457200">
              <a:buFontTx/>
              <a:buChar char="-"/>
            </a:pPr>
            <a:r>
              <a:rPr lang="en-US" altLang="en-US" sz="3000" dirty="0">
                <a:latin typeface="Times New Roman" panose="02020603050405020304" pitchFamily="18" charset="0"/>
                <a:cs typeface="Times New Roman" panose="02020603050405020304" pitchFamily="18" charset="0"/>
              </a:rPr>
              <a:t>Implementing this in a college environment improves accessibility and participation in events.</a:t>
            </a:r>
          </a:p>
          <a:p>
            <a:pPr marL="457200" indent="-457200">
              <a:buFontTx/>
              <a:buChar char="-"/>
            </a:pPr>
            <a:r>
              <a:rPr lang="en-US" altLang="en-US" sz="3000" dirty="0">
                <a:latin typeface="Times New Roman" panose="02020603050405020304" pitchFamily="18" charset="0"/>
                <a:cs typeface="Times New Roman" panose="02020603050405020304" pitchFamily="18" charset="0"/>
              </a:rPr>
              <a:t>The system provides an online platform where users can browse events, book tickets, and make payments easily.</a:t>
            </a:r>
          </a:p>
          <a:p>
            <a:pPr marL="457200" indent="-457200">
              <a:buFontTx/>
              <a:buChar char="-"/>
            </a:pPr>
            <a:r>
              <a:rPr lang="en-US" altLang="en-US" sz="3000" dirty="0">
                <a:latin typeface="Times New Roman" panose="02020603050405020304" pitchFamily="18" charset="0"/>
                <a:cs typeface="Times New Roman" panose="02020603050405020304" pitchFamily="18" charset="0"/>
              </a:rPr>
              <a:t>It also includes an admin module to manage events, monitor bookings, and maintain records efficiently.</a:t>
            </a:r>
          </a:p>
        </p:txBody>
      </p:sp>
      <p:grpSp>
        <p:nvGrpSpPr>
          <p:cNvPr id="6" name="Group 37"/>
          <p:cNvGrpSpPr/>
          <p:nvPr/>
        </p:nvGrpSpPr>
        <p:grpSpPr>
          <a:xfrm>
            <a:off x="14020800" y="-8142801"/>
            <a:ext cx="10994424" cy="10994424"/>
            <a:chOff x="0" y="0"/>
            <a:chExt cx="812800" cy="812800"/>
          </a:xfrm>
        </p:grpSpPr>
        <p:sp>
          <p:nvSpPr>
            <p:cNvPr id="7"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0"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0" y="121641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8" name="TextBox 47"/>
          <p:cNvSpPr txBox="1"/>
          <p:nvPr/>
        </p:nvSpPr>
        <p:spPr>
          <a:xfrm>
            <a:off x="2209800" y="2147570"/>
            <a:ext cx="15082520" cy="6703060"/>
          </a:xfrm>
          <a:prstGeom prst="rect">
            <a:avLst/>
          </a:prstGeom>
          <a:noFill/>
        </p:spPr>
        <p:txBody>
          <a:bodyPr wrap="square" rtlCol="0">
            <a:noAutofit/>
          </a:bodyPr>
          <a:lstStyle/>
          <a:p>
            <a:pPr marL="457200" indent="-457200">
              <a:buFontTx/>
              <a:buChar char="-"/>
            </a:pPr>
            <a:r>
              <a:rPr lang="en-US" altLang="en-US" sz="3200" dirty="0">
                <a:latin typeface="Times New Roman" panose="02020603050405020304" pitchFamily="18" charset="0"/>
                <a:cs typeface="Times New Roman" panose="02020603050405020304" pitchFamily="18" charset="0"/>
              </a:rPr>
              <a:t>In many colleges, event ticket booking is still handled manually or through unorganized methods.</a:t>
            </a:r>
            <a:r>
              <a:rPr lang="en-IN" altLang="en-US" sz="3200" dirty="0">
                <a:latin typeface="Times New Roman" panose="02020603050405020304" pitchFamily="18" charset="0"/>
                <a:cs typeface="Times New Roman" panose="02020603050405020304" pitchFamily="18" charset="0"/>
              </a:rPr>
              <a:t>a</a:t>
            </a:r>
            <a:endParaRPr lang="en-US" altLang="en-US" sz="3200" dirty="0">
              <a:latin typeface="Times New Roman" panose="02020603050405020304" pitchFamily="18" charset="0"/>
              <a:cs typeface="Times New Roman" panose="02020603050405020304" pitchFamily="18" charset="0"/>
            </a:endParaRPr>
          </a:p>
          <a:p>
            <a:pPr marL="457200" indent="-457200">
              <a:buFontTx/>
              <a:buChar char="-"/>
            </a:pPr>
            <a:r>
              <a:rPr lang="en-US" altLang="en-US" sz="3200" dirty="0">
                <a:latin typeface="Times New Roman" panose="02020603050405020304" pitchFamily="18" charset="0"/>
                <a:cs typeface="Times New Roman" panose="02020603050405020304" pitchFamily="18" charset="0"/>
              </a:rPr>
              <a:t>This leads to long queues, delays, and difficulty in managing large numbers of participants.</a:t>
            </a:r>
          </a:p>
          <a:p>
            <a:pPr marL="457200" indent="-457200">
              <a:buFontTx/>
              <a:buChar char="-"/>
            </a:pPr>
            <a:r>
              <a:rPr lang="en-US" altLang="en-US" sz="3200" dirty="0">
                <a:latin typeface="Times New Roman" panose="02020603050405020304" pitchFamily="18" charset="0"/>
                <a:cs typeface="Times New Roman" panose="02020603050405020304" pitchFamily="18" charset="0"/>
              </a:rPr>
              <a:t>Manual systems are prone to errors such as duplicate entries, ticket loss, and inaccurate records.</a:t>
            </a:r>
          </a:p>
          <a:p>
            <a:pPr marL="457200" indent="-457200">
              <a:buFontTx/>
              <a:buChar char="-"/>
            </a:pPr>
            <a:r>
              <a:rPr lang="en-US" altLang="en-US" sz="3200" dirty="0">
                <a:latin typeface="Times New Roman" panose="02020603050405020304" pitchFamily="18" charset="0"/>
                <a:cs typeface="Times New Roman" panose="02020603050405020304" pitchFamily="18" charset="0"/>
              </a:rPr>
              <a:t>Students often lack clear information about event availability and booking status.</a:t>
            </a:r>
          </a:p>
          <a:p>
            <a:pPr marL="457200" indent="-457200">
              <a:buFontTx/>
              <a:buChar char="-"/>
            </a:pPr>
            <a:r>
              <a:rPr lang="en-US" altLang="en-US" sz="3200" dirty="0">
                <a:latin typeface="Times New Roman" panose="02020603050405020304" pitchFamily="18" charset="0"/>
                <a:cs typeface="Times New Roman" panose="02020603050405020304" pitchFamily="18" charset="0"/>
              </a:rPr>
              <a:t>There is no centralized platform to manage bookings, payments, and event details efficiently.</a:t>
            </a:r>
          </a:p>
          <a:p>
            <a:pPr marL="457200" indent="-457200">
              <a:buFontTx/>
              <a:buChar char="-"/>
            </a:pPr>
            <a:r>
              <a:rPr lang="en-US" altLang="en-US" sz="3200" dirty="0">
                <a:latin typeface="Times New Roman" panose="02020603050405020304" pitchFamily="18" charset="0"/>
                <a:cs typeface="Times New Roman" panose="02020603050405020304" pitchFamily="18" charset="0"/>
              </a:rPr>
              <a:t>This reduces overall participation and creates inconvenience for both students and organizers.</a:t>
            </a:r>
          </a:p>
          <a:p>
            <a:pPr marL="457200" indent="-457200">
              <a:buFontTx/>
              <a:buChar char="-"/>
            </a:pPr>
            <a:r>
              <a:rPr lang="en-US" altLang="en-US" sz="3200" dirty="0">
                <a:latin typeface="Times New Roman" panose="02020603050405020304" pitchFamily="18" charset="0"/>
                <a:cs typeface="Times New Roman" panose="02020603050405020304" pitchFamily="18" charset="0"/>
              </a:rPr>
              <a:t>Therefore, there is a need for a simple, secure, and automated ticket booking system.</a:t>
            </a:r>
          </a:p>
          <a:p>
            <a:pPr marL="457200" indent="-457200">
              <a:buFontTx/>
              <a:buChar char="-"/>
            </a:pPr>
            <a:r>
              <a:rPr lang="en-US" altLang="en-US" sz="3200" dirty="0">
                <a:latin typeface="Times New Roman" panose="02020603050405020304" pitchFamily="18" charset="0"/>
                <a:cs typeface="Times New Roman" panose="02020603050405020304" pitchFamily="18" charset="0"/>
              </a:rPr>
              <a:t>Such a system will improve accuracy, save time, and ensure smooth event management.</a:t>
            </a:r>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6" name="TextBox 5"/>
          <p:cNvSpPr txBox="1"/>
          <p:nvPr/>
        </p:nvSpPr>
        <p:spPr>
          <a:xfrm>
            <a:off x="2209800" y="1638300"/>
            <a:ext cx="15082325" cy="14864715"/>
          </a:xfrm>
          <a:prstGeom prst="rect">
            <a:avLst/>
          </a:prstGeom>
          <a:noFill/>
        </p:spPr>
        <p:txBody>
          <a:bodyPr wrap="square" rtlCol="0">
            <a:spAutoFit/>
          </a:bodyPr>
          <a:lstStyle/>
          <a:p>
            <a:pPr marL="457200" indent="-457200">
              <a:buFontTx/>
              <a:buChar char="-"/>
            </a:pPr>
            <a:r>
              <a:rPr lang="en-US" altLang="en-US" sz="3200" dirty="0">
                <a:latin typeface="Times New Roman" panose="02020603050405020304" pitchFamily="18" charset="0"/>
                <a:cs typeface="Times New Roman" panose="02020603050405020304" pitchFamily="18" charset="0"/>
              </a:rPr>
              <a:t>To develop a web-based system for online ticket booking:</a:t>
            </a:r>
          </a:p>
          <a:p>
            <a:pPr marL="457200" indent="-457200">
              <a:buFontTx/>
              <a:buChar char="-"/>
            </a:pPr>
            <a:r>
              <a:rPr lang="en-US" altLang="en-US" sz="3200" dirty="0">
                <a:latin typeface="Times New Roman" panose="02020603050405020304" pitchFamily="18" charset="0"/>
                <a:cs typeface="Times New Roman" panose="02020603050405020304" pitchFamily="18" charset="0"/>
              </a:rPr>
              <a:t>The objective is to design and implement an interactive web application that enables students to easily browse upcoming college events, view event details, and book tickets anytime from anywhere. This system will provide a seamless user experience with simple navigation, reducing the need for physical presence and long queues.</a:t>
            </a:r>
          </a:p>
          <a:p>
            <a:pPr marL="457200" indent="-457200">
              <a:buFontTx/>
              <a:buChar char="-"/>
            </a:pPr>
            <a:r>
              <a:rPr lang="en-US" altLang="en-US" sz="3200" dirty="0">
                <a:latin typeface="Times New Roman" panose="02020603050405020304" pitchFamily="18" charset="0"/>
                <a:cs typeface="Times New Roman" panose="02020603050405020304" pitchFamily="18" charset="0"/>
              </a:rPr>
              <a:t>To create an efficient admin module for management:</a:t>
            </a:r>
          </a:p>
          <a:p>
            <a:pPr marL="457200" indent="-457200">
              <a:buFontTx/>
              <a:buChar char="-"/>
            </a:pPr>
            <a:r>
              <a:rPr lang="en-US" altLang="en-US" sz="3200" dirty="0">
                <a:latin typeface="Times New Roman" panose="02020603050405020304" pitchFamily="18" charset="0"/>
                <a:cs typeface="Times New Roman" panose="02020603050405020304" pitchFamily="18" charset="0"/>
              </a:rPr>
              <a:t>The project aims to include a dedicated admin interface that allows organizers to create and update events, manage ticket availability, monitor bookings in real time, and maintain accurate records. This helps in better coordination, reduces manual errors, and ensures smooth handling of large-scale events.</a:t>
            </a:r>
          </a:p>
          <a:p>
            <a:pPr marL="457200" indent="-457200">
              <a:buFontTx/>
              <a:buChar char="-"/>
            </a:pPr>
            <a:r>
              <a:rPr lang="en-US" altLang="en-US" sz="3200" dirty="0">
                <a:latin typeface="Times New Roman" panose="02020603050405020304" pitchFamily="18" charset="0"/>
                <a:cs typeface="Times New Roman" panose="02020603050405020304" pitchFamily="18" charset="0"/>
              </a:rPr>
              <a:t>To ensure a secure, fast, and user-friendly platform:</a:t>
            </a:r>
          </a:p>
          <a:p>
            <a:pPr marL="457200" indent="-457200">
              <a:buFontTx/>
              <a:buChar char="-"/>
            </a:pPr>
            <a:r>
              <a:rPr lang="en-US" altLang="en-US" sz="3200" dirty="0">
                <a:latin typeface="Times New Roman" panose="02020603050405020304" pitchFamily="18" charset="0"/>
                <a:cs typeface="Times New Roman" panose="02020603050405020304" pitchFamily="18" charset="0"/>
              </a:rPr>
              <a:t>Another key objective is to build a system that is reliable and secure, protecting user data and transaction details. The platform will be optimized for speed and usability, making it accessible to all users while minimizing manual effort and improving overall efficiency in event management.</a:t>
            </a:r>
          </a:p>
          <a:p>
            <a:pPr marL="457200" indent="-457200">
              <a:buFontTx/>
              <a:buChar char="-"/>
            </a:pPr>
            <a:endParaRPr lang="en-US" altLang="en-US" sz="3200" dirty="0">
              <a:latin typeface="Times New Roman" panose="02020603050405020304" pitchFamily="18" charset="0"/>
              <a:cs typeface="Times New Roman" panose="02020603050405020304" pitchFamily="18" charset="0"/>
            </a:endParaRPr>
          </a:p>
          <a:p>
            <a:endParaRPr lang="en-US" alt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p:cNvSpPr txBox="1"/>
          <p:nvPr/>
        </p:nvSpPr>
        <p:spPr>
          <a:xfrm>
            <a:off x="2209800" y="1638300"/>
            <a:ext cx="15082325" cy="13695045"/>
          </a:xfrm>
          <a:prstGeom prst="rect">
            <a:avLst/>
          </a:prstGeom>
          <a:noFill/>
        </p:spPr>
        <p:txBody>
          <a:bodyPr wrap="square" rtlCol="0">
            <a:spAutoFit/>
          </a:bodyPr>
          <a:lstStyle/>
          <a:p>
            <a:pPr marL="457200" indent="-457200">
              <a:buFontTx/>
              <a:buChar char="-"/>
            </a:pPr>
            <a:r>
              <a:rPr lang="en-US" altLang="en-US" sz="2800" dirty="0"/>
              <a:t> </a:t>
            </a:r>
            <a:r>
              <a:rPr lang="en-US" altLang="en-US" sz="3200" dirty="0">
                <a:latin typeface="Times New Roman" panose="02020603050405020304" pitchFamily="18" charset="0"/>
                <a:cs typeface="Times New Roman" panose="02020603050405020304" pitchFamily="18" charset="0"/>
              </a:rPr>
              <a:t>The proposed system is a web-based online ticket booking platform designed specifically for college events.</a:t>
            </a:r>
          </a:p>
          <a:p>
            <a:pPr marL="457200" indent="-457200">
              <a:buFontTx/>
              <a:buChar char="-"/>
            </a:pPr>
            <a:r>
              <a:rPr lang="en-US" altLang="en-US" sz="3200" dirty="0">
                <a:latin typeface="Times New Roman" panose="02020603050405020304" pitchFamily="18" charset="0"/>
                <a:cs typeface="Times New Roman" panose="02020603050405020304" pitchFamily="18" charset="0"/>
              </a:rPr>
              <a:t> It provides a centralized portal where students can view event details, check availability, and book tickets instantly.</a:t>
            </a:r>
          </a:p>
          <a:p>
            <a:pPr marL="457200" indent="-457200">
              <a:buFontTx/>
              <a:buChar char="-"/>
            </a:pPr>
            <a:r>
              <a:rPr lang="en-US" altLang="en-US" sz="3200" dirty="0">
                <a:latin typeface="Times New Roman" panose="02020603050405020304" pitchFamily="18" charset="0"/>
                <a:cs typeface="Times New Roman" panose="02020603050405020304" pitchFamily="18" charset="0"/>
              </a:rPr>
              <a:t> The system eliminates manual processes, thereby reducing long queues and saving time for both students and organizers.</a:t>
            </a:r>
          </a:p>
          <a:p>
            <a:pPr marL="457200" indent="-457200">
              <a:buFontTx/>
              <a:buChar char="-"/>
            </a:pPr>
            <a:r>
              <a:rPr lang="en-US" altLang="en-US" sz="3200" dirty="0">
                <a:latin typeface="Times New Roman" panose="02020603050405020304" pitchFamily="18" charset="0"/>
                <a:cs typeface="Times New Roman" panose="02020603050405020304" pitchFamily="18" charset="0"/>
              </a:rPr>
              <a:t> It ensures </a:t>
            </a:r>
            <a:r>
              <a:rPr lang="en-IN" altLang="en-US" sz="3200" dirty="0">
                <a:latin typeface="Times New Roman" panose="02020603050405020304" pitchFamily="18" charset="0"/>
                <a:cs typeface="Times New Roman" panose="02020603050405020304" pitchFamily="18" charset="0"/>
              </a:rPr>
              <a:t> </a:t>
            </a:r>
            <a:r>
              <a:rPr lang="en-US" altLang="en-US" sz="3200" dirty="0">
                <a:latin typeface="Times New Roman" panose="02020603050405020304" pitchFamily="18" charset="0"/>
                <a:cs typeface="Times New Roman" panose="02020603050405020304" pitchFamily="18" charset="0"/>
              </a:rPr>
              <a:t>accurate data management by maintaining digital records of bookings, avoiding duplication and errors.</a:t>
            </a:r>
          </a:p>
          <a:p>
            <a:pPr marL="457200" indent="-457200">
              <a:buFontTx/>
              <a:buChar char="-"/>
            </a:pPr>
            <a:r>
              <a:rPr lang="en-IN" altLang="en-US" sz="3200" dirty="0">
                <a:latin typeface="Times New Roman" panose="02020603050405020304" pitchFamily="18" charset="0"/>
                <a:cs typeface="Times New Roman" panose="02020603050405020304" pitchFamily="18" charset="0"/>
              </a:rPr>
              <a:t> </a:t>
            </a:r>
            <a:r>
              <a:rPr lang="en-US" altLang="en-US" sz="3200" dirty="0">
                <a:latin typeface="Times New Roman" panose="02020603050405020304" pitchFamily="18" charset="0"/>
                <a:cs typeface="Times New Roman" panose="02020603050405020304" pitchFamily="18" charset="0"/>
              </a:rPr>
              <a:t>An integrated </a:t>
            </a:r>
            <a:r>
              <a:rPr lang="en-IN" altLang="en-US" sz="3200" dirty="0">
                <a:latin typeface="Times New Roman" panose="02020603050405020304" pitchFamily="18" charset="0"/>
                <a:cs typeface="Times New Roman" panose="02020603050405020304" pitchFamily="18" charset="0"/>
              </a:rPr>
              <a:t> </a:t>
            </a:r>
            <a:r>
              <a:rPr lang="en-US" altLang="en-US" sz="3200" dirty="0">
                <a:latin typeface="Times New Roman" panose="02020603050405020304" pitchFamily="18" charset="0"/>
                <a:cs typeface="Times New Roman" panose="02020603050405020304" pitchFamily="18" charset="0"/>
              </a:rPr>
              <a:t>admin module</a:t>
            </a:r>
            <a:r>
              <a:rPr lang="en-IN" altLang="en-US" sz="3200" dirty="0">
                <a:latin typeface="Times New Roman" panose="02020603050405020304" pitchFamily="18" charset="0"/>
                <a:cs typeface="Times New Roman" panose="02020603050405020304" pitchFamily="18" charset="0"/>
              </a:rPr>
              <a:t> </a:t>
            </a:r>
            <a:r>
              <a:rPr lang="en-US" altLang="en-US" sz="3200" dirty="0">
                <a:latin typeface="Times New Roman" panose="02020603050405020304" pitchFamily="18" charset="0"/>
                <a:cs typeface="Times New Roman" panose="02020603050405020304" pitchFamily="18" charset="0"/>
              </a:rPr>
              <a:t>allows organizers to efficiently manage events, monitor ticket sales, and update information in real time.</a:t>
            </a:r>
          </a:p>
          <a:p>
            <a:pPr marL="457200" indent="-457200">
              <a:buFontTx/>
              <a:buChar char="-"/>
            </a:pPr>
            <a:r>
              <a:rPr lang="en-US" altLang="en-US" sz="3200" dirty="0">
                <a:latin typeface="Times New Roman" panose="02020603050405020304" pitchFamily="18" charset="0"/>
                <a:cs typeface="Times New Roman" panose="02020603050405020304" pitchFamily="18" charset="0"/>
              </a:rPr>
              <a:t> The system improves transparency by providing </a:t>
            </a:r>
            <a:r>
              <a:rPr lang="en-IN" altLang="en-US" sz="3200" dirty="0">
                <a:latin typeface="Times New Roman" panose="02020603050405020304" pitchFamily="18" charset="0"/>
                <a:cs typeface="Times New Roman" panose="02020603050405020304" pitchFamily="18" charset="0"/>
              </a:rPr>
              <a:t> </a:t>
            </a:r>
            <a:r>
              <a:rPr lang="en-US" altLang="en-US" sz="3200" dirty="0">
                <a:latin typeface="Times New Roman" panose="02020603050405020304" pitchFamily="18" charset="0"/>
                <a:cs typeface="Times New Roman" panose="02020603050405020304" pitchFamily="18" charset="0"/>
              </a:rPr>
              <a:t>real-time booking status and confirmations</a:t>
            </a:r>
            <a:r>
              <a:rPr lang="en-IN" altLang="en-US" sz="3200" dirty="0">
                <a:latin typeface="Times New Roman" panose="02020603050405020304" pitchFamily="18" charset="0"/>
                <a:cs typeface="Times New Roman" panose="02020603050405020304" pitchFamily="18" charset="0"/>
              </a:rPr>
              <a:t> </a:t>
            </a:r>
            <a:r>
              <a:rPr lang="en-US" altLang="en-US" sz="3200" dirty="0">
                <a:latin typeface="Times New Roman" panose="02020603050405020304" pitchFamily="18" charset="0"/>
                <a:cs typeface="Times New Roman" panose="02020603050405020304" pitchFamily="18" charset="0"/>
              </a:rPr>
              <a:t> to users.</a:t>
            </a:r>
          </a:p>
          <a:p>
            <a:pPr marL="457200" indent="-457200">
              <a:buFontTx/>
              <a:buChar char="-"/>
            </a:pPr>
            <a:r>
              <a:rPr lang="en-US" altLang="en-US" sz="3200" dirty="0">
                <a:latin typeface="Times New Roman" panose="02020603050405020304" pitchFamily="18" charset="0"/>
                <a:cs typeface="Times New Roman" panose="02020603050405020304" pitchFamily="18" charset="0"/>
              </a:rPr>
              <a:t> Compared to traditional methods, it offers greater convenience, accessibility, and reliability through automation.</a:t>
            </a:r>
          </a:p>
          <a:p>
            <a:pPr marL="457200" indent="-457200">
              <a:buFontTx/>
              <a:buChar char="-"/>
            </a:pPr>
            <a:r>
              <a:rPr lang="en-US" altLang="en-US" sz="3200" dirty="0">
                <a:latin typeface="Times New Roman" panose="02020603050405020304" pitchFamily="18" charset="0"/>
                <a:cs typeface="Times New Roman" panose="02020603050405020304" pitchFamily="18" charset="0"/>
              </a:rPr>
              <a:t>Overall, it enhances user experience and ensures smooth, fast, and organized event management.</a:t>
            </a:r>
          </a:p>
          <a:p>
            <a:pPr marL="914400" lvl="1" indent="-457200">
              <a:buFont typeface="Arial" panose="020B0604020202020204" pitchFamily="34" charset="0"/>
              <a:buChar char="•"/>
            </a:pPr>
            <a:endParaRPr lang="en-US" altLang="en-US" sz="3200" dirty="0">
              <a:latin typeface="Times New Roman" panose="02020603050405020304" pitchFamily="18" charset="0"/>
              <a:cs typeface="Times New Roman" panose="02020603050405020304" pitchFamily="18" charset="0"/>
            </a:endParaRPr>
          </a:p>
          <a:p>
            <a:pPr marL="457200" indent="-457200">
              <a:buFontTx/>
              <a:buChar char="-"/>
            </a:pPr>
            <a:endParaRPr lang="en-US" sz="32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TextBox 45"/>
          <p:cNvSpPr txBox="1"/>
          <p:nvPr/>
        </p:nvSpPr>
        <p:spPr>
          <a:xfrm>
            <a:off x="25879" y="400481"/>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2" name="TextBox 41"/>
          <p:cNvSpPr txBox="1"/>
          <p:nvPr/>
        </p:nvSpPr>
        <p:spPr>
          <a:xfrm>
            <a:off x="0" y="48663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2209800" y="1525905"/>
            <a:ext cx="15082520" cy="8011795"/>
          </a:xfrm>
          <a:prstGeom prst="rect">
            <a:avLst/>
          </a:prstGeom>
          <a:noFill/>
        </p:spPr>
        <p:txBody>
          <a:bodyPr wrap="square" rtlCol="0">
            <a:noAutofit/>
          </a:bodyPr>
          <a:lstStyle/>
          <a:p>
            <a:pPr marL="457200" indent="-457200">
              <a:buFontTx/>
              <a:buChar char="-"/>
            </a:pPr>
            <a:r>
              <a:rPr lang="en-US" altLang="en-US" sz="2800" dirty="0">
                <a:latin typeface="Times New Roman" panose="02020603050405020304" pitchFamily="18" charset="0"/>
                <a:cs typeface="Times New Roman" panose="02020603050405020304" pitchFamily="18" charset="0"/>
              </a:rPr>
              <a:t>Input</a:t>
            </a:r>
          </a:p>
          <a:p>
            <a:pPr marL="457200" indent="-457200">
              <a:buFontTx/>
              <a:buChar char="-"/>
            </a:pPr>
            <a:r>
              <a:rPr lang="en-US" altLang="en-US" sz="2800" dirty="0">
                <a:latin typeface="Times New Roman" panose="02020603050405020304" pitchFamily="18" charset="0"/>
                <a:cs typeface="Times New Roman" panose="02020603050405020304" pitchFamily="18" charset="0"/>
              </a:rPr>
              <a:t>The input includes user details such as login credentials, event selection, number of tickets, and payment information.</a:t>
            </a:r>
          </a:p>
          <a:p>
            <a:pPr marL="457200" indent="-457200">
              <a:buFontTx/>
              <a:buChar char="-"/>
            </a:pPr>
            <a:r>
              <a:rPr lang="en-US" altLang="en-US" sz="2800" dirty="0">
                <a:latin typeface="Times New Roman" panose="02020603050405020304" pitchFamily="18" charset="0"/>
                <a:cs typeface="Times New Roman" panose="02020603050405020304" pitchFamily="18" charset="0"/>
              </a:rPr>
              <a:t>Admin input includes event creation details like event name, date, venue, and ticket limit.</a:t>
            </a:r>
          </a:p>
          <a:p>
            <a:pPr marL="457200" indent="-457200">
              <a:buFontTx/>
              <a:buChar char="-"/>
            </a:pPr>
            <a:endParaRPr lang="en-US" altLang="en-US" sz="2800" dirty="0">
              <a:latin typeface="Times New Roman" panose="02020603050405020304" pitchFamily="18" charset="0"/>
              <a:cs typeface="Times New Roman" panose="02020603050405020304" pitchFamily="18" charset="0"/>
            </a:endParaRPr>
          </a:p>
          <a:p>
            <a:pPr marL="457200" indent="-457200">
              <a:buFontTx/>
              <a:buChar char="-"/>
            </a:pPr>
            <a:r>
              <a:rPr lang="en-US" altLang="en-US" sz="2800" dirty="0">
                <a:latin typeface="Times New Roman" panose="02020603050405020304" pitchFamily="18" charset="0"/>
                <a:cs typeface="Times New Roman" panose="02020603050405020304" pitchFamily="18" charset="0"/>
              </a:rPr>
              <a:t>Processing</a:t>
            </a:r>
          </a:p>
          <a:p>
            <a:pPr marL="457200" indent="-457200">
              <a:buFontTx/>
              <a:buChar char="-"/>
            </a:pPr>
            <a:r>
              <a:rPr lang="en-US" altLang="en-US" sz="2800" dirty="0">
                <a:latin typeface="Times New Roman" panose="02020603050405020304" pitchFamily="18" charset="0"/>
                <a:cs typeface="Times New Roman" panose="02020603050405020304" pitchFamily="18" charset="0"/>
              </a:rPr>
              <a:t>The system processes user requests by validating login details, checking ticket availability, and handling booking operations.</a:t>
            </a:r>
          </a:p>
          <a:p>
            <a:pPr marL="457200" indent="-457200">
              <a:buFontTx/>
              <a:buChar char="-"/>
            </a:pPr>
            <a:r>
              <a:rPr lang="en-US" altLang="en-US" sz="2800" dirty="0">
                <a:latin typeface="Times New Roman" panose="02020603050405020304" pitchFamily="18" charset="0"/>
                <a:cs typeface="Times New Roman" panose="02020603050405020304" pitchFamily="18" charset="0"/>
              </a:rPr>
              <a:t>It also processes payments, updates ticket counts, and ensures proper communication between user and admin modules.</a:t>
            </a:r>
          </a:p>
          <a:p>
            <a:pPr marL="457200" indent="-457200">
              <a:buFontTx/>
              <a:buChar char="-"/>
            </a:pPr>
            <a:endParaRPr lang="en-US" altLang="en-US" sz="2800" dirty="0">
              <a:latin typeface="Times New Roman" panose="02020603050405020304" pitchFamily="18" charset="0"/>
              <a:cs typeface="Times New Roman" panose="02020603050405020304" pitchFamily="18" charset="0"/>
            </a:endParaRPr>
          </a:p>
          <a:p>
            <a:pPr marL="457200" indent="-457200">
              <a:buFontTx/>
              <a:buChar char="-"/>
            </a:pPr>
            <a:r>
              <a:rPr lang="en-US" altLang="en-US" sz="2800" dirty="0">
                <a:latin typeface="Times New Roman" panose="02020603050405020304" pitchFamily="18" charset="0"/>
                <a:cs typeface="Times New Roman" panose="02020603050405020304" pitchFamily="18" charset="0"/>
              </a:rPr>
              <a:t>Database</a:t>
            </a:r>
          </a:p>
          <a:p>
            <a:pPr marL="457200" indent="-457200">
              <a:buFontTx/>
              <a:buChar char="-"/>
            </a:pPr>
            <a:r>
              <a:rPr lang="en-US" altLang="en-US" sz="2800" dirty="0">
                <a:latin typeface="Times New Roman" panose="02020603050405020304" pitchFamily="18" charset="0"/>
                <a:cs typeface="Times New Roman" panose="02020603050405020304" pitchFamily="18" charset="0"/>
              </a:rPr>
              <a:t>The database stores all important information such as user data, event details, booking records, and transaction history.</a:t>
            </a:r>
          </a:p>
          <a:p>
            <a:pPr marL="457200" indent="-457200">
              <a:buFontTx/>
              <a:buChar char="-"/>
            </a:pPr>
            <a:r>
              <a:rPr lang="en-US" altLang="en-US" sz="2800" dirty="0">
                <a:latin typeface="Times New Roman" panose="02020603050405020304" pitchFamily="18" charset="0"/>
                <a:cs typeface="Times New Roman" panose="02020603050405020304" pitchFamily="18" charset="0"/>
              </a:rPr>
              <a:t>It ensures secure storage and quick retrieval of data whenever required.</a:t>
            </a:r>
          </a:p>
          <a:p>
            <a:pPr marL="457200" indent="-457200">
              <a:buFontTx/>
              <a:buChar char="-"/>
            </a:pPr>
            <a:endParaRPr lang="en-US" altLang="en-US" sz="2800" dirty="0">
              <a:latin typeface="Times New Roman" panose="02020603050405020304" pitchFamily="18" charset="0"/>
              <a:cs typeface="Times New Roman" panose="02020603050405020304" pitchFamily="18" charset="0"/>
            </a:endParaRPr>
          </a:p>
          <a:p>
            <a:pPr marL="457200" indent="-457200">
              <a:buFontTx/>
              <a:buChar char="-"/>
            </a:pPr>
            <a:r>
              <a:rPr lang="en-US" altLang="en-US" sz="2800" dirty="0">
                <a:latin typeface="Times New Roman" panose="02020603050405020304" pitchFamily="18" charset="0"/>
                <a:cs typeface="Times New Roman" panose="02020603050405020304" pitchFamily="18" charset="0"/>
              </a:rPr>
              <a:t>Output</a:t>
            </a:r>
          </a:p>
          <a:p>
            <a:pPr marL="457200" indent="-457200">
              <a:buFontTx/>
              <a:buChar char="-"/>
            </a:pPr>
            <a:r>
              <a:rPr lang="en-US" altLang="en-US" sz="2800" dirty="0">
                <a:latin typeface="Times New Roman" panose="02020603050405020304" pitchFamily="18" charset="0"/>
                <a:cs typeface="Times New Roman" panose="02020603050405020304" pitchFamily="18" charset="0"/>
              </a:rPr>
              <a:t>The output includes booking confirmation, ticket details, and payment status displayed to the user.</a:t>
            </a:r>
          </a:p>
          <a:p>
            <a:pPr marL="457200" indent="-457200">
              <a:buFontTx/>
              <a:buChar char="-"/>
            </a:pPr>
            <a:r>
              <a:rPr lang="en-US" altLang="en-US" sz="2800" dirty="0">
                <a:latin typeface="Times New Roman" panose="02020603050405020304" pitchFamily="18" charset="0"/>
                <a:cs typeface="Times New Roman" panose="02020603050405020304" pitchFamily="18" charset="0"/>
              </a:rPr>
              <a:t>Admin receives reports such as total bookings, event status, and user participation details.</a:t>
            </a: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90500" y="315938"/>
            <a:ext cx="158115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2362200" y="1638300"/>
            <a:ext cx="15082325" cy="3969385"/>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pic>
        <p:nvPicPr>
          <p:cNvPr id="5" name="Picture 4" descr="ChatGPT Image May 5, 2026, 11_00_12 PM"/>
          <p:cNvPicPr>
            <a:picLocks noChangeAspect="1"/>
          </p:cNvPicPr>
          <p:nvPr/>
        </p:nvPicPr>
        <p:blipFill>
          <a:blip r:embed="rId2"/>
          <a:stretch>
            <a:fillRect/>
          </a:stretch>
        </p:blipFill>
        <p:spPr>
          <a:xfrm>
            <a:off x="3048000" y="1714500"/>
            <a:ext cx="11750675" cy="78339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52400" y="342900"/>
            <a:ext cx="16764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5551170" cy="7416165"/>
          </a:xfrm>
          <a:prstGeom prst="rect">
            <a:avLst/>
          </a:prstGeom>
          <a:noFill/>
        </p:spPr>
        <p:txBody>
          <a:bodyPr wrap="square" rtlCol="0">
            <a:spAutoFit/>
          </a:bodyPr>
          <a:lstStyle/>
          <a:p>
            <a:pPr marL="457200" indent="-457200">
              <a:buFontTx/>
              <a:buChar char="-"/>
            </a:pPr>
            <a:r>
              <a:rPr lang="en-US" altLang="en-US" sz="2800" dirty="0"/>
              <a:t>&gt; Frontend:</a:t>
            </a:r>
          </a:p>
          <a:p>
            <a:pPr marL="457200" indent="-457200">
              <a:buFontTx/>
              <a:buChar char="-"/>
            </a:pPr>
            <a:r>
              <a:rPr lang="en-US" altLang="en-US" sz="2800" dirty="0"/>
              <a:t>  - HTML</a:t>
            </a:r>
          </a:p>
          <a:p>
            <a:pPr marL="457200" indent="-457200">
              <a:buFontTx/>
              <a:buChar char="-"/>
            </a:pPr>
            <a:r>
              <a:rPr lang="en-US" altLang="en-US" sz="2800" dirty="0"/>
              <a:t>  - CSS</a:t>
            </a:r>
          </a:p>
          <a:p>
            <a:pPr marL="457200" indent="-457200">
              <a:buFontTx/>
              <a:buChar char="-"/>
            </a:pPr>
            <a:r>
              <a:rPr lang="en-US" altLang="en-US" sz="2800" dirty="0"/>
              <a:t>  - JavaScript</a:t>
            </a:r>
          </a:p>
          <a:p>
            <a:pPr marL="457200" indent="-457200">
              <a:buFontTx/>
              <a:buChar char="-"/>
            </a:pPr>
            <a:r>
              <a:rPr lang="en-US" altLang="en-US" sz="2800" dirty="0"/>
              <a:t>  - React.js</a:t>
            </a:r>
          </a:p>
          <a:p>
            <a:pPr marL="457200" indent="-457200">
              <a:buFontTx/>
              <a:buChar char="-"/>
            </a:pPr>
            <a:endParaRPr lang="en-US" altLang="en-US" sz="2800" dirty="0"/>
          </a:p>
          <a:p>
            <a:pPr marL="457200" indent="-457200">
              <a:buFontTx/>
              <a:buChar char="-"/>
            </a:pPr>
            <a:r>
              <a:rPr lang="en-US" altLang="en-US" sz="2800" dirty="0"/>
              <a:t>&gt; Backend:</a:t>
            </a:r>
          </a:p>
          <a:p>
            <a:pPr marL="457200" indent="-457200">
              <a:buFontTx/>
              <a:buChar char="-"/>
            </a:pPr>
            <a:r>
              <a:rPr lang="en-US" altLang="en-US" sz="2800" dirty="0"/>
              <a:t>  - Node.js</a:t>
            </a:r>
          </a:p>
          <a:p>
            <a:pPr marL="457200" indent="-457200">
              <a:buFontTx/>
              <a:buChar char="-"/>
            </a:pPr>
            <a:r>
              <a:rPr lang="en-US" altLang="en-US" sz="2800" dirty="0"/>
              <a:t>  - Express.js</a:t>
            </a:r>
          </a:p>
          <a:p>
            <a:pPr marL="457200" indent="-457200">
              <a:buFontTx/>
              <a:buChar char="-"/>
            </a:pPr>
            <a:endParaRPr lang="en-US" altLang="en-US" sz="2800" dirty="0"/>
          </a:p>
          <a:p>
            <a:pPr marL="457200" indent="-457200">
              <a:buFontTx/>
              <a:buChar char="-"/>
            </a:pPr>
            <a:r>
              <a:rPr lang="en-US" altLang="en-US" sz="2800" dirty="0"/>
              <a:t>&gt; Database:</a:t>
            </a:r>
          </a:p>
          <a:p>
            <a:pPr marL="457200" indent="-457200">
              <a:buFontTx/>
              <a:buChar char="-"/>
            </a:pPr>
            <a:r>
              <a:rPr lang="en-US" altLang="en-US" sz="2800" dirty="0"/>
              <a:t>  - MongoDB</a:t>
            </a:r>
          </a:p>
          <a:p>
            <a:pPr marL="457200" indent="-457200">
              <a:buFontTx/>
              <a:buChar char="-"/>
            </a:pPr>
            <a:endParaRPr lang="en-US" altLang="en-US" sz="2800" dirty="0"/>
          </a:p>
          <a:p>
            <a:pPr marL="457200" indent="-457200">
              <a:buFontTx/>
              <a:buChar char="-"/>
            </a:pPr>
            <a:r>
              <a:rPr lang="en-US" altLang="en-US" sz="2800" dirty="0"/>
              <a:t>&gt; Third-Party APIs:</a:t>
            </a:r>
          </a:p>
          <a:p>
            <a:pPr marL="457200" indent="-457200">
              <a:buFontTx/>
              <a:buChar char="-"/>
            </a:pPr>
            <a:r>
              <a:rPr lang="en-US" altLang="en-US" sz="2800" dirty="0"/>
              <a:t>  - Razorpay (Payment Gateway)</a:t>
            </a:r>
          </a:p>
          <a:p>
            <a:pPr marL="457200" indent="-457200">
              <a:buFontTx/>
              <a:buChar char="-"/>
            </a:pPr>
            <a:r>
              <a:rPr lang="en-US" altLang="en-US" sz="2800" dirty="0"/>
              <a:t>  - Email/SMS API (Notifications)</a:t>
            </a:r>
          </a:p>
          <a:p>
            <a:pPr marL="457200" indent="-457200">
              <a:buFontTx/>
              <a:buChar char="-"/>
            </a:pPr>
            <a:endParaRPr lang="en-US" altLang="en-US" sz="2800" dirty="0"/>
          </a:p>
        </p:txBody>
      </p:sp>
      <p:grpSp>
        <p:nvGrpSpPr>
          <p:cNvPr id="2" name="Group 37"/>
          <p:cNvGrpSpPr/>
          <p:nvPr/>
        </p:nvGrpSpPr>
        <p:grpSpPr>
          <a:xfrm>
            <a:off x="14401800" y="-2955537"/>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5" name="Text Box 4"/>
          <p:cNvSpPr txBox="1"/>
          <p:nvPr/>
        </p:nvSpPr>
        <p:spPr>
          <a:xfrm>
            <a:off x="8408670" y="1714500"/>
            <a:ext cx="9144000" cy="4831080"/>
          </a:xfrm>
          <a:prstGeom prst="rect">
            <a:avLst/>
          </a:prstGeom>
          <a:noFill/>
        </p:spPr>
        <p:txBody>
          <a:bodyPr wrap="square" rtlCol="0" anchor="t">
            <a:spAutoFit/>
          </a:bodyPr>
          <a:lstStyle/>
          <a:p>
            <a:pPr marL="457200" indent="-457200">
              <a:buFontTx/>
              <a:buChar char="-"/>
            </a:pPr>
            <a:r>
              <a:rPr lang="en-US" altLang="en-US" sz="2800" dirty="0">
                <a:sym typeface="+mn-ea"/>
              </a:rPr>
              <a:t>&gt; Tools:</a:t>
            </a:r>
            <a:endParaRPr lang="en-US" altLang="en-US" sz="2800" dirty="0"/>
          </a:p>
          <a:p>
            <a:pPr marL="457200" indent="-457200">
              <a:buFontTx/>
              <a:buChar char="-"/>
            </a:pPr>
            <a:r>
              <a:rPr lang="en-US" altLang="en-US" sz="2800" dirty="0">
                <a:sym typeface="+mn-ea"/>
              </a:rPr>
              <a:t>  - VS Code</a:t>
            </a:r>
            <a:endParaRPr lang="en-US" altLang="en-US" sz="2800" dirty="0"/>
          </a:p>
          <a:p>
            <a:pPr marL="457200" indent="-457200">
              <a:buFontTx/>
              <a:buChar char="-"/>
            </a:pPr>
            <a:r>
              <a:rPr lang="en-US" altLang="en-US" sz="2800" dirty="0">
                <a:sym typeface="+mn-ea"/>
              </a:rPr>
              <a:t>  - Git &amp; GitHub</a:t>
            </a:r>
            <a:endParaRPr lang="en-US" altLang="en-US" sz="2800" dirty="0"/>
          </a:p>
          <a:p>
            <a:pPr marL="457200" indent="-457200">
              <a:buFontTx/>
              <a:buChar char="-"/>
            </a:pPr>
            <a:r>
              <a:rPr lang="en-US" altLang="en-US" sz="2800" dirty="0">
                <a:sym typeface="+mn-ea"/>
              </a:rPr>
              <a:t>  - Postman</a:t>
            </a:r>
            <a:endParaRPr lang="en-US" altLang="en-US" sz="2800" dirty="0"/>
          </a:p>
          <a:p>
            <a:pPr marL="457200" indent="-457200">
              <a:buFontTx/>
              <a:buChar char="-"/>
            </a:pPr>
            <a:r>
              <a:rPr lang="en-US" altLang="en-US" sz="2800" dirty="0">
                <a:sym typeface="+mn-ea"/>
              </a:rPr>
              <a:t>  - Chrome Browser</a:t>
            </a:r>
            <a:endParaRPr lang="en-US" altLang="en-US" sz="2800" dirty="0"/>
          </a:p>
          <a:p>
            <a:pPr marL="457200" indent="-457200">
              <a:buFontTx/>
              <a:buChar char="-"/>
            </a:pPr>
            <a:endParaRPr lang="en-US" altLang="en-US" sz="2800" dirty="0"/>
          </a:p>
          <a:p>
            <a:pPr marL="457200" indent="-457200">
              <a:buFontTx/>
              <a:buChar char="-"/>
            </a:pPr>
            <a:r>
              <a:rPr lang="en-US" altLang="en-US" sz="2800" dirty="0">
                <a:sym typeface="+mn-ea"/>
              </a:rPr>
              <a:t>&gt; Platform:</a:t>
            </a:r>
            <a:endParaRPr lang="en-US" altLang="en-US" sz="2800" dirty="0"/>
          </a:p>
          <a:p>
            <a:pPr marL="457200" indent="-457200">
              <a:buFontTx/>
              <a:buChar char="-"/>
            </a:pPr>
            <a:r>
              <a:rPr lang="en-US" altLang="en-US" sz="2800" dirty="0">
                <a:sym typeface="+mn-ea"/>
              </a:rPr>
              <a:t>  - Web Application (Cross-platform)</a:t>
            </a:r>
            <a:endParaRPr lang="en-US" altLang="en-US" sz="2800" dirty="0"/>
          </a:p>
          <a:p>
            <a:pPr marL="457200" indent="-457200">
              <a:buFontTx/>
              <a:buChar char="-"/>
            </a:pPr>
            <a:endParaRPr lang="en-US" altLang="en-US" sz="2800" dirty="0"/>
          </a:p>
          <a:p>
            <a:pPr marL="457200" indent="-457200">
              <a:buFontTx/>
              <a:buChar char="-"/>
            </a:pPr>
            <a:r>
              <a:rPr lang="en-US" altLang="en-US" sz="2800" dirty="0">
                <a:sym typeface="+mn-ea"/>
              </a:rPr>
              <a:t>&gt; Operating System:</a:t>
            </a:r>
            <a:endParaRPr lang="en-US" altLang="en-US" sz="2800" dirty="0"/>
          </a:p>
          <a:p>
            <a:pPr marL="457200" indent="-457200">
              <a:buFontTx/>
              <a:buChar char="-"/>
            </a:pPr>
            <a:r>
              <a:rPr lang="en-US" altLang="en-US" sz="2800" dirty="0">
                <a:sym typeface="+mn-ea"/>
              </a:rPr>
              <a:t>  - Windows / Linux / macOS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261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6972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8278495"/>
          </a:xfrm>
          <a:prstGeom prst="rect">
            <a:avLst/>
          </a:prstGeom>
          <a:noFill/>
        </p:spPr>
        <p:txBody>
          <a:bodyPr wrap="square" rtlCol="0">
            <a:spAutoFit/>
          </a:bodyPr>
          <a:lstStyle/>
          <a:p>
            <a:r>
              <a:rPr lang="en-US" altLang="en-US" sz="2800" dirty="0"/>
              <a:t>Module 1: User Management</a:t>
            </a:r>
          </a:p>
          <a:p>
            <a:r>
              <a:rPr lang="en-US" altLang="en-US" sz="2800" dirty="0"/>
              <a:t>Handles user registration, login, and profile management with secure authentication.</a:t>
            </a:r>
          </a:p>
          <a:p>
            <a:r>
              <a:rPr lang="en-US" altLang="en-US" sz="2800" dirty="0"/>
              <a:t>Allows users to create accounts, log in, and view booking history.</a:t>
            </a:r>
          </a:p>
          <a:p>
            <a:endParaRPr lang="en-US" altLang="en-US" sz="2800" dirty="0"/>
          </a:p>
          <a:p>
            <a:r>
              <a:rPr lang="en-US" altLang="en-US" sz="2800" dirty="0"/>
              <a:t>Module 2: Event &amp; Ticket Management (Core Processing)</a:t>
            </a:r>
          </a:p>
          <a:p>
            <a:r>
              <a:rPr lang="en-US" altLang="en-US" sz="2800" dirty="0"/>
              <a:t>Manages event creation, event listing, and ticket booking process.</a:t>
            </a:r>
          </a:p>
          <a:p>
            <a:r>
              <a:rPr lang="en-US" altLang="en-US" sz="2800" dirty="0"/>
              <a:t>Processes user inputs such as selecting events and booking tickets efficiently.</a:t>
            </a:r>
          </a:p>
          <a:p>
            <a:endParaRPr lang="en-US" altLang="en-US" sz="2800" dirty="0"/>
          </a:p>
          <a:p>
            <a:r>
              <a:rPr lang="en-US" altLang="en-US" sz="2800" dirty="0"/>
              <a:t>Module 3: Database Management</a:t>
            </a:r>
          </a:p>
          <a:p>
            <a:r>
              <a:rPr lang="en-US" altLang="en-US" sz="2800" dirty="0"/>
              <a:t>Stores and manages user data, event details, booking records, and payment information.</a:t>
            </a:r>
          </a:p>
          <a:p>
            <a:r>
              <a:rPr lang="en-US" altLang="en-US" sz="2800" dirty="0"/>
              <a:t>Ensures data integrity, consistency, and quick retrieval.</a:t>
            </a:r>
          </a:p>
          <a:p>
            <a:endParaRPr lang="en-US" altLang="en-US" sz="2800" dirty="0"/>
          </a:p>
          <a:p>
            <a:r>
              <a:rPr lang="en-US" altLang="en-US" sz="2800" dirty="0"/>
              <a:t>Module 4: Payment &amp; Notification Module (Innovative Module)</a:t>
            </a:r>
          </a:p>
          <a:p>
            <a:r>
              <a:rPr lang="en-US" altLang="en-US" sz="2800" dirty="0"/>
              <a:t>Integrates secure payment gateways for online transactions.</a:t>
            </a:r>
          </a:p>
          <a:p>
            <a:r>
              <a:rPr lang="en-US" altLang="en-US" sz="2800" dirty="0"/>
              <a:t>Provides features like e-ticket generation and email/SMS notifications.</a:t>
            </a:r>
          </a:p>
          <a:p>
            <a:endParaRPr lang="en-US" altLang="en-US" sz="2800" dirty="0"/>
          </a:p>
          <a:p>
            <a:r>
              <a:rPr lang="en-US" altLang="en-US" sz="2800" dirty="0"/>
              <a:t>Module 5: Reporting &amp; Analytics</a:t>
            </a:r>
          </a:p>
          <a:p>
            <a:r>
              <a:rPr lang="en-US" altLang="en-US" sz="2800" dirty="0"/>
              <a:t>Generates reports such as total bookings, revenue, and participant details.</a:t>
            </a:r>
          </a:p>
          <a:p>
            <a:r>
              <a:rPr lang="en-US" altLang="en-US" sz="2800" dirty="0"/>
              <a:t>Helps in analyzing data for better event management decisions.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2468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7112000"/>
            <a:ext cx="15082520" cy="2088515"/>
          </a:xfrm>
          <a:prstGeom prst="rect">
            <a:avLst/>
          </a:prstGeom>
          <a:noFill/>
        </p:spPr>
        <p:txBody>
          <a:bodyPr wrap="square" rtlCol="0">
            <a:noAutofit/>
          </a:bodyPr>
          <a:lstStyle/>
          <a:p>
            <a:pPr marL="457200" indent="-457200">
              <a:buFontTx/>
              <a:buChar char="-"/>
            </a:pPr>
            <a:r>
              <a:rPr lang="en-US" altLang="en-US" sz="2800" dirty="0"/>
              <a:t>This page displays a user-friendly event listing interface where users can search, filter, and browse available college events with details like date, venue, and ticket availability.</a:t>
            </a:r>
          </a:p>
          <a:p>
            <a:pPr marL="457200" indent="-457200">
              <a:buFontTx/>
              <a:buChar char="-"/>
            </a:pPr>
            <a:r>
              <a:rPr lang="en-US" altLang="en-US" sz="2800" dirty="0"/>
              <a:t>It also allows users to quickly view ticket prices and book tickets online through a simple and interactive “Book Now” option.</a:t>
            </a:r>
            <a:endParaRPr lang="en-IN" sz="2800" dirty="0"/>
          </a:p>
        </p:txBody>
      </p:sp>
      <p:pic>
        <p:nvPicPr>
          <p:cNvPr id="5" name="Picture 4" descr="Home page "/>
          <p:cNvPicPr>
            <a:picLocks noChangeAspect="1"/>
          </p:cNvPicPr>
          <p:nvPr/>
        </p:nvPicPr>
        <p:blipFill>
          <a:blip r:embed="rId2"/>
          <a:stretch>
            <a:fillRect/>
          </a:stretch>
        </p:blipFill>
        <p:spPr>
          <a:xfrm>
            <a:off x="2621915" y="1611630"/>
            <a:ext cx="13350240" cy="5090160"/>
          </a:xfrm>
          <a:prstGeom prst="rect">
            <a:avLst/>
          </a:prstGeom>
        </p:spPr>
      </p:pic>
      <p:sp>
        <p:nvSpPr>
          <p:cNvPr id="6" name="Text Box 5"/>
          <p:cNvSpPr txBox="1"/>
          <p:nvPr/>
        </p:nvSpPr>
        <p:spPr>
          <a:xfrm>
            <a:off x="2331720" y="4288155"/>
            <a:ext cx="6096000" cy="368300"/>
          </a:xfrm>
          <a:prstGeom prst="rect">
            <a:avLst/>
          </a:prstGeom>
          <a:noFill/>
        </p:spPr>
        <p:txBody>
          <a:bodyPr wrap="square" rtlCol="0">
            <a:spAutoFit/>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6306799"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64133" y="1600443"/>
            <a:ext cx="5257800"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r>
              <a:rPr lang="en-US" sz="2800" dirty="0"/>
              <a:t>Admin Login Page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11441822" y="1697977"/>
            <a:ext cx="5257800"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r>
              <a:rPr lang="en-US" sz="2800" dirty="0"/>
              <a:t>User Login Page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cxnSp>
        <p:nvCxnSpPr>
          <p:cNvPr id="5" name="Straight Connector 4"/>
          <p:cNvCxnSpPr/>
          <p:nvPr/>
        </p:nvCxnSpPr>
        <p:spPr>
          <a:xfrm>
            <a:off x="9448800" y="1697977"/>
            <a:ext cx="0" cy="7484123"/>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admin login"/>
          <p:cNvPicPr>
            <a:picLocks noChangeAspect="1"/>
          </p:cNvPicPr>
          <p:nvPr/>
        </p:nvPicPr>
        <p:blipFill>
          <a:blip r:embed="rId2"/>
          <a:stretch>
            <a:fillRect/>
          </a:stretch>
        </p:blipFill>
        <p:spPr>
          <a:xfrm>
            <a:off x="2895600" y="3009900"/>
            <a:ext cx="4046220" cy="5006340"/>
          </a:xfrm>
          <a:prstGeom prst="rect">
            <a:avLst/>
          </a:prstGeom>
        </p:spPr>
      </p:pic>
      <p:sp>
        <p:nvSpPr>
          <p:cNvPr id="34" name="Text Box 33"/>
          <p:cNvSpPr txBox="1"/>
          <p:nvPr/>
        </p:nvSpPr>
        <p:spPr>
          <a:xfrm>
            <a:off x="2057400" y="8343900"/>
            <a:ext cx="6826885" cy="1086485"/>
          </a:xfrm>
          <a:prstGeom prst="rect">
            <a:avLst/>
          </a:prstGeom>
          <a:noFill/>
        </p:spPr>
        <p:txBody>
          <a:bodyPr wrap="square" rtlCol="0">
            <a:noAutofit/>
          </a:bodyPr>
          <a:lstStyle/>
          <a:p>
            <a:r>
              <a:rPr lang="en-US" altLang="en-US" sz="2800">
                <a:latin typeface="Times New Roman" panose="02020603050405020304" pitchFamily="18" charset="0"/>
                <a:cs typeface="Times New Roman" panose="02020603050405020304" pitchFamily="18" charset="0"/>
              </a:rPr>
              <a:t>Admin login page that allows administrators to securely access the system using email and password credentials.</a:t>
            </a:r>
            <a:endParaRPr lang="en-US" sz="2800">
              <a:latin typeface="Times New Roman" panose="02020603050405020304" pitchFamily="18" charset="0"/>
              <a:cs typeface="Times New Roman" panose="02020603050405020304" pitchFamily="18" charset="0"/>
            </a:endParaRPr>
          </a:p>
        </p:txBody>
      </p:sp>
      <p:sp>
        <p:nvSpPr>
          <p:cNvPr id="38" name="Text Box 37"/>
          <p:cNvSpPr txBox="1"/>
          <p:nvPr/>
        </p:nvSpPr>
        <p:spPr>
          <a:xfrm>
            <a:off x="10972800" y="8374380"/>
            <a:ext cx="6096000" cy="1116330"/>
          </a:xfrm>
          <a:prstGeom prst="rect">
            <a:avLst/>
          </a:prstGeom>
          <a:noFill/>
        </p:spPr>
        <p:txBody>
          <a:bodyPr wrap="square" rtlCol="0">
            <a:noAutofit/>
          </a:bodyPr>
          <a:lstStyle/>
          <a:p>
            <a:r>
              <a:rPr lang="en-US" altLang="en-US" sz="2800">
                <a:latin typeface="Times New Roman" panose="02020603050405020304" pitchFamily="18" charset="0"/>
                <a:cs typeface="Times New Roman" panose="02020603050405020304" pitchFamily="18" charset="0"/>
              </a:rPr>
              <a:t>User login page that enables registered users to sign in and access event booking features.</a:t>
            </a:r>
            <a:endParaRPr lang="en-US" sz="2800">
              <a:latin typeface="Times New Roman" panose="02020603050405020304" pitchFamily="18" charset="0"/>
              <a:cs typeface="Times New Roman" panose="02020603050405020304" pitchFamily="18" charset="0"/>
            </a:endParaRPr>
          </a:p>
        </p:txBody>
      </p:sp>
      <p:pic>
        <p:nvPicPr>
          <p:cNvPr id="39" name="Picture 38">
            <a:extLst>
              <a:ext uri="{FF2B5EF4-FFF2-40B4-BE49-F238E27FC236}">
                <a16:creationId xmlns:a16="http://schemas.microsoft.com/office/drawing/2014/main" id="{C6F7801B-73BE-BC4A-3E68-F40FEDE40B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5627" y="3512829"/>
            <a:ext cx="7733742" cy="367784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2468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7734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6124754"/>
          </a:xfrm>
          <a:prstGeom prst="rect">
            <a:avLst/>
          </a:prstGeom>
          <a:noFill/>
        </p:spPr>
        <p:txBody>
          <a:bodyPr wrap="square" rtlCol="0">
            <a:spAutoFit/>
          </a:bodyPr>
          <a:lstStyle/>
          <a:p>
            <a:pPr marL="457200" indent="-457200">
              <a:buFontTx/>
              <a:buChar char="-"/>
            </a:pPr>
            <a:r>
              <a:rPr lang="en-US" sz="2800" dirty="0"/>
              <a:t>Module 1 Screenshot</a:t>
            </a:r>
          </a:p>
          <a:p>
            <a:r>
              <a:rPr lang="en-US" sz="2800" dirty="0"/>
              <a:t>Explain in 1–2 lines.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4" name="Text Box 3"/>
          <p:cNvSpPr txBox="1"/>
          <p:nvPr/>
        </p:nvSpPr>
        <p:spPr>
          <a:xfrm>
            <a:off x="2209800" y="7931785"/>
            <a:ext cx="13472160" cy="1546225"/>
          </a:xfrm>
          <a:prstGeom prst="rect">
            <a:avLst/>
          </a:prstGeom>
          <a:noFill/>
        </p:spPr>
        <p:txBody>
          <a:bodyPr wrap="square" rtlCol="0">
            <a:noAutofit/>
          </a:bodyPr>
          <a:lstStyle/>
          <a:p>
            <a:r>
              <a:rPr lang="en-US" altLang="en-US" sz="2800">
                <a:latin typeface="Times New Roman" panose="02020603050405020304" pitchFamily="18" charset="0"/>
                <a:cs typeface="Times New Roman" panose="02020603050405020304" pitchFamily="18" charset="0"/>
              </a:rPr>
              <a:t>This page shows the user dashboard after login, where users can browse events, apply filters, and search for specific college events easily.</a:t>
            </a:r>
          </a:p>
          <a:p>
            <a:r>
              <a:rPr lang="en-US" altLang="en-US" sz="2800">
                <a:latin typeface="Times New Roman" panose="02020603050405020304" pitchFamily="18" charset="0"/>
                <a:cs typeface="Times New Roman" panose="02020603050405020304" pitchFamily="18" charset="0"/>
              </a:rPr>
              <a:t>It also provides options like book tickets, view schedules, and check bookings, along with event details, availability, and pricing.</a:t>
            </a:r>
            <a:endParaRPr lang="en-US" sz="28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33C0AEE-3513-7DE7-1A2A-D2A32B3DB5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4174" y="1602740"/>
            <a:ext cx="14341155" cy="62446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5262245"/>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5" name="Text Box 4"/>
          <p:cNvSpPr txBox="1"/>
          <p:nvPr/>
        </p:nvSpPr>
        <p:spPr>
          <a:xfrm>
            <a:off x="2286000" y="7703820"/>
            <a:ext cx="14173200" cy="1809115"/>
          </a:xfrm>
          <a:prstGeom prst="rect">
            <a:avLst/>
          </a:prstGeom>
          <a:noFill/>
        </p:spPr>
        <p:txBody>
          <a:bodyPr wrap="square" rtlCol="0">
            <a:noAutofit/>
          </a:bodyPr>
          <a:lstStyle/>
          <a:p>
            <a:r>
              <a:rPr lang="en-US" altLang="en-US" sz="2800">
                <a:latin typeface="Times New Roman" panose="02020603050405020304" pitchFamily="18" charset="0"/>
                <a:cs typeface="Times New Roman" panose="02020603050405020304" pitchFamily="18" charset="0"/>
              </a:rPr>
              <a:t>This page shows the </a:t>
            </a:r>
            <a:r>
              <a:rPr lang="en-IN" altLang="en-US" sz="2800">
                <a:latin typeface="Times New Roman" panose="02020603050405020304" pitchFamily="18" charset="0"/>
                <a:cs typeface="Times New Roman" panose="02020603050405020304" pitchFamily="18" charset="0"/>
              </a:rPr>
              <a:t> </a:t>
            </a:r>
            <a:r>
              <a:rPr lang="en-US" altLang="en-US" sz="2800">
                <a:latin typeface="Times New Roman" panose="02020603050405020304" pitchFamily="18" charset="0"/>
                <a:cs typeface="Times New Roman" panose="02020603050405020304" pitchFamily="18" charset="0"/>
              </a:rPr>
              <a:t>Admin Dashboard, providing an overview of key metrics such as total revenue, tickets sold, availability, and conversion rate.</a:t>
            </a:r>
          </a:p>
          <a:p>
            <a:r>
              <a:rPr lang="en-US" altLang="en-US" sz="2800">
                <a:latin typeface="Times New Roman" panose="02020603050405020304" pitchFamily="18" charset="0"/>
                <a:cs typeface="Times New Roman" panose="02020603050405020304" pitchFamily="18" charset="0"/>
              </a:rPr>
              <a:t>It also displays recent bookings with user details, ticket count, payment amount, and status, helping admins monitor and manage events efficiently.</a:t>
            </a:r>
          </a:p>
          <a:p>
            <a:endParaRPr lang="en-US" sz="28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A0ED25B-FA19-9256-E93D-DF7498136A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5171" y="1638300"/>
            <a:ext cx="14867448" cy="591501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5262245"/>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2"/>
          <a:stretch>
            <a:fillRect/>
          </a:stretch>
        </p:blipFill>
        <p:spPr>
          <a:xfrm>
            <a:off x="2317115" y="1456690"/>
            <a:ext cx="13729970" cy="5761990"/>
          </a:xfrm>
          <a:prstGeom prst="rect">
            <a:avLst/>
          </a:prstGeom>
        </p:spPr>
      </p:pic>
      <p:sp>
        <p:nvSpPr>
          <p:cNvPr id="4" name="Text Box 3"/>
          <p:cNvSpPr txBox="1"/>
          <p:nvPr/>
        </p:nvSpPr>
        <p:spPr>
          <a:xfrm>
            <a:off x="2362200" y="7709535"/>
            <a:ext cx="13608685" cy="1425575"/>
          </a:xfrm>
          <a:prstGeom prst="rect">
            <a:avLst/>
          </a:prstGeom>
          <a:noFill/>
        </p:spPr>
        <p:txBody>
          <a:bodyPr wrap="square" rtlCol="0">
            <a:noAutofit/>
          </a:bodyPr>
          <a:lstStyle/>
          <a:p>
            <a:r>
              <a:rPr lang="en-US" altLang="en-US" sz="2800">
                <a:latin typeface="Times New Roman" panose="02020603050405020304" pitchFamily="18" charset="0"/>
                <a:cs typeface="Times New Roman" panose="02020603050405020304" pitchFamily="18" charset="0"/>
              </a:rPr>
              <a:t>This page displays the </a:t>
            </a:r>
            <a:r>
              <a:rPr lang="en-IN" altLang="en-US" sz="2800">
                <a:latin typeface="Times New Roman" panose="02020603050405020304" pitchFamily="18" charset="0"/>
                <a:cs typeface="Times New Roman" panose="02020603050405020304" pitchFamily="18" charset="0"/>
              </a:rPr>
              <a:t> </a:t>
            </a:r>
            <a:r>
              <a:rPr lang="en-US" altLang="en-US" sz="2800">
                <a:latin typeface="Times New Roman" panose="02020603050405020304" pitchFamily="18" charset="0"/>
                <a:cs typeface="Times New Roman" panose="02020603050405020304" pitchFamily="18" charset="0"/>
              </a:rPr>
              <a:t>Admin Events Management section, where admins can view all active events with details like date, venue, availability, and price.</a:t>
            </a:r>
          </a:p>
          <a:p>
            <a:r>
              <a:rPr lang="en-US" altLang="en-US" sz="2800">
                <a:latin typeface="Times New Roman" panose="02020603050405020304" pitchFamily="18" charset="0"/>
                <a:cs typeface="Times New Roman" panose="02020603050405020304" pitchFamily="18" charset="0"/>
              </a:rPr>
              <a:t>It also provides options to add new events and manage existing ones, enabling efficient control over event listings.</a:t>
            </a:r>
          </a:p>
          <a:p>
            <a:endParaRPr 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5692775"/>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2"/>
          <a:stretch>
            <a:fillRect/>
          </a:stretch>
        </p:blipFill>
        <p:spPr>
          <a:xfrm>
            <a:off x="2381250" y="1434465"/>
            <a:ext cx="13373735" cy="6067425"/>
          </a:xfrm>
          <a:prstGeom prst="rect">
            <a:avLst/>
          </a:prstGeom>
        </p:spPr>
      </p:pic>
      <p:sp>
        <p:nvSpPr>
          <p:cNvPr id="4" name="Text Box 3"/>
          <p:cNvSpPr txBox="1"/>
          <p:nvPr/>
        </p:nvSpPr>
        <p:spPr>
          <a:xfrm>
            <a:off x="2438400" y="7733665"/>
            <a:ext cx="13316585" cy="1978660"/>
          </a:xfrm>
          <a:prstGeom prst="rect">
            <a:avLst/>
          </a:prstGeom>
          <a:noFill/>
        </p:spPr>
        <p:txBody>
          <a:bodyPr wrap="square" rtlCol="0">
            <a:noAutofit/>
          </a:bodyPr>
          <a:lstStyle/>
          <a:p>
            <a:r>
              <a:rPr lang="en-US" altLang="en-US" sz="2800">
                <a:latin typeface="Times New Roman" panose="02020603050405020304" pitchFamily="18" charset="0"/>
                <a:cs typeface="Times New Roman" panose="02020603050405020304" pitchFamily="18" charset="0"/>
              </a:rPr>
              <a:t>This image shows the database table (bookings)</a:t>
            </a:r>
            <a:r>
              <a:rPr lang="en-IN" altLang="en-US" sz="2800">
                <a:latin typeface="Times New Roman" panose="02020603050405020304" pitchFamily="18" charset="0"/>
                <a:cs typeface="Times New Roman" panose="02020603050405020304" pitchFamily="18" charset="0"/>
              </a:rPr>
              <a:t> </a:t>
            </a:r>
            <a:r>
              <a:rPr lang="en-US" altLang="en-US" sz="2800">
                <a:latin typeface="Times New Roman" panose="02020603050405020304" pitchFamily="18" charset="0"/>
                <a:cs typeface="Times New Roman" panose="02020603050405020304" pitchFamily="18" charset="0"/>
              </a:rPr>
              <a:t>in phpMyAdmin, displaying stored booking records with fields like user ID, event ID, tickets booked, and payment details.</a:t>
            </a:r>
          </a:p>
          <a:p>
            <a:r>
              <a:rPr lang="en-US" altLang="en-US" sz="2800">
                <a:latin typeface="Times New Roman" panose="02020603050405020304" pitchFamily="18" charset="0"/>
                <a:cs typeface="Times New Roman" panose="02020603050405020304" pitchFamily="18" charset="0"/>
              </a:rPr>
              <a:t>It provides options to view, edit, delete, and manage booking data, ensuring efficient backend data handling.</a:t>
            </a:r>
          </a:p>
          <a:p>
            <a:endParaRPr 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16786360" y="-4299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2" name="TextBox 1"/>
          <p:cNvSpPr txBox="1"/>
          <p:nvPr/>
        </p:nvSpPr>
        <p:spPr>
          <a:xfrm>
            <a:off x="190500" y="290493"/>
            <a:ext cx="1612292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362200" y="1790700"/>
            <a:ext cx="9144000" cy="7847330"/>
          </a:xfrm>
          <a:prstGeom prst="rect">
            <a:avLst/>
          </a:prstGeom>
          <a:noFill/>
        </p:spPr>
        <p:txBody>
          <a:bodyPr wrap="square" rtlCol="0" anchor="t">
            <a:spAutoFit/>
          </a:bodyPr>
          <a:lstStyle/>
          <a:p>
            <a:r>
              <a:rPr lang="en-US" altLang="en-US" sz="2800">
                <a:latin typeface="Times New Roman" panose="02020603050405020304" pitchFamily="18" charset="0"/>
                <a:cs typeface="Times New Roman" panose="02020603050405020304" pitchFamily="18" charset="0"/>
              </a:rPr>
              <a:t>&gt; ADVANTAGES</a:t>
            </a:r>
          </a:p>
          <a:p>
            <a:endParaRPr lang="en-US" altLang="en-US" sz="2800">
              <a:latin typeface="Times New Roman" panose="02020603050405020304" pitchFamily="18" charset="0"/>
              <a:cs typeface="Times New Roman" panose="02020603050405020304" pitchFamily="18" charset="0"/>
            </a:endParaRPr>
          </a:p>
          <a:p>
            <a:r>
              <a:rPr lang="en-US" altLang="en-US" sz="2800">
                <a:latin typeface="Times New Roman" panose="02020603050405020304" pitchFamily="18" charset="0"/>
                <a:cs typeface="Times New Roman" panose="02020603050405020304" pitchFamily="18" charset="0"/>
              </a:rPr>
              <a:t>  - Reduces manual work and paperwork</a:t>
            </a:r>
          </a:p>
          <a:p>
            <a:r>
              <a:rPr lang="en-US" altLang="en-US" sz="2800">
                <a:latin typeface="Times New Roman" panose="02020603050405020304" pitchFamily="18" charset="0"/>
                <a:cs typeface="Times New Roman" panose="02020603050405020304" pitchFamily="18" charset="0"/>
              </a:rPr>
              <a:t>  - Saves time with quick online booking</a:t>
            </a:r>
          </a:p>
          <a:p>
            <a:r>
              <a:rPr lang="en-US" altLang="en-US" sz="2800">
                <a:latin typeface="Times New Roman" panose="02020603050405020304" pitchFamily="18" charset="0"/>
                <a:cs typeface="Times New Roman" panose="02020603050405020304" pitchFamily="18" charset="0"/>
              </a:rPr>
              <a:t>  - Minimizes errors in ticket management</a:t>
            </a:r>
          </a:p>
          <a:p>
            <a:r>
              <a:rPr lang="en-US" altLang="en-US" sz="2800">
                <a:latin typeface="Times New Roman" panose="02020603050405020304" pitchFamily="18" charset="0"/>
                <a:cs typeface="Times New Roman" panose="02020603050405020304" pitchFamily="18" charset="0"/>
              </a:rPr>
              <a:t>  - Provides real-time updates on availability</a:t>
            </a:r>
          </a:p>
          <a:p>
            <a:r>
              <a:rPr lang="en-US" altLang="en-US" sz="2800">
                <a:latin typeface="Times New Roman" panose="02020603050405020304" pitchFamily="18" charset="0"/>
                <a:cs typeface="Times New Roman" panose="02020603050405020304" pitchFamily="18" charset="0"/>
              </a:rPr>
              <a:t>  - Easy access from anywhere (web-based)</a:t>
            </a:r>
          </a:p>
          <a:p>
            <a:r>
              <a:rPr lang="en-US" altLang="en-US" sz="2800">
                <a:latin typeface="Times New Roman" panose="02020603050405020304" pitchFamily="18" charset="0"/>
                <a:cs typeface="Times New Roman" panose="02020603050405020304" pitchFamily="18" charset="0"/>
              </a:rPr>
              <a:t>  - Secure and organized data handling</a:t>
            </a:r>
          </a:p>
          <a:p>
            <a:r>
              <a:rPr lang="en-US" altLang="en-US" sz="2800">
                <a:latin typeface="Times New Roman" panose="02020603050405020304" pitchFamily="18" charset="0"/>
                <a:cs typeface="Times New Roman" panose="02020603050405020304" pitchFamily="18" charset="0"/>
              </a:rPr>
              <a:t>  - Improves user experience and convenience</a:t>
            </a:r>
          </a:p>
          <a:p>
            <a:endParaRPr lang="en-US" altLang="en-US" sz="2800">
              <a:latin typeface="Times New Roman" panose="02020603050405020304" pitchFamily="18" charset="0"/>
              <a:cs typeface="Times New Roman" panose="02020603050405020304" pitchFamily="18" charset="0"/>
            </a:endParaRPr>
          </a:p>
          <a:p>
            <a:r>
              <a:rPr lang="en-US" altLang="en-US" sz="2800">
                <a:latin typeface="Times New Roman" panose="02020603050405020304" pitchFamily="18" charset="0"/>
                <a:cs typeface="Times New Roman" panose="02020603050405020304" pitchFamily="18" charset="0"/>
              </a:rPr>
              <a:t>&gt; LIMITATIONS</a:t>
            </a:r>
          </a:p>
          <a:p>
            <a:endParaRPr lang="en-US" altLang="en-US" sz="2800">
              <a:latin typeface="Times New Roman" panose="02020603050405020304" pitchFamily="18" charset="0"/>
              <a:cs typeface="Times New Roman" panose="02020603050405020304" pitchFamily="18" charset="0"/>
            </a:endParaRPr>
          </a:p>
          <a:p>
            <a:r>
              <a:rPr lang="en-US" altLang="en-US" sz="2800">
                <a:latin typeface="Times New Roman" panose="02020603050405020304" pitchFamily="18" charset="0"/>
                <a:cs typeface="Times New Roman" panose="02020603050405020304" pitchFamily="18" charset="0"/>
              </a:rPr>
              <a:t>  - Requires stable internet connection</a:t>
            </a:r>
          </a:p>
          <a:p>
            <a:r>
              <a:rPr lang="en-US" altLang="en-US" sz="2800">
                <a:latin typeface="Times New Roman" panose="02020603050405020304" pitchFamily="18" charset="0"/>
                <a:cs typeface="Times New Roman" panose="02020603050405020304" pitchFamily="18" charset="0"/>
              </a:rPr>
              <a:t>  - Depends on system/server availability</a:t>
            </a:r>
          </a:p>
          <a:p>
            <a:r>
              <a:rPr lang="en-US" altLang="en-US" sz="2800">
                <a:latin typeface="Times New Roman" panose="02020603050405020304" pitchFamily="18" charset="0"/>
                <a:cs typeface="Times New Roman" panose="02020603050405020304" pitchFamily="18" charset="0"/>
              </a:rPr>
              <a:t>  - Initial setup and maintenance cost</a:t>
            </a:r>
          </a:p>
          <a:p>
            <a:r>
              <a:rPr lang="en-US" altLang="en-US" sz="2800">
                <a:latin typeface="Times New Roman" panose="02020603050405020304" pitchFamily="18" charset="0"/>
                <a:cs typeface="Times New Roman" panose="02020603050405020304" pitchFamily="18" charset="0"/>
              </a:rPr>
              <a:t>  - Risk of technical issues or bugs</a:t>
            </a:r>
          </a:p>
          <a:p>
            <a:r>
              <a:rPr lang="en-US" altLang="en-US" sz="2800">
                <a:latin typeface="Times New Roman" panose="02020603050405020304" pitchFamily="18" charset="0"/>
                <a:cs typeface="Times New Roman" panose="02020603050405020304" pitchFamily="18" charset="0"/>
              </a:rPr>
              <a:t>  - Users need basic digital knowledge</a:t>
            </a:r>
          </a:p>
          <a:p>
            <a:r>
              <a:rPr lang="en-US" altLang="en-US" sz="2800">
                <a:latin typeface="Times New Roman" panose="02020603050405020304" pitchFamily="18" charset="0"/>
                <a:cs typeface="Times New Roman" panose="02020603050405020304" pitchFamily="18" charset="0"/>
              </a:rPr>
              <a:t>  - Payment failures may affect booking process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1672</Words>
  <Application>Microsoft Office PowerPoint</Application>
  <PresentationFormat>Custom</PresentationFormat>
  <Paragraphs>428</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Times New Roman</vt:lpstr>
      <vt:lpstr>Bookman Old Style</vt:lpstr>
      <vt:lpstr>Calibri</vt:lpstr>
      <vt:lpstr>Cambria</vt:lpstr>
      <vt:lpstr>Gotham Bold Italics</vt:lpstr>
      <vt:lpstr>Arial</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Karthik</dc:creator>
  <cp:lastModifiedBy>nagolu karthik</cp:lastModifiedBy>
  <cp:revision>17</cp:revision>
  <dcterms:created xsi:type="dcterms:W3CDTF">2006-08-16T00:00:00Z</dcterms:created>
  <dcterms:modified xsi:type="dcterms:W3CDTF">2026-05-05T19:26:30Z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1033-12.1.0.25862</vt:lpwstr>
  </property>
  <property fmtid="{D5CDD505-2E9C-101B-9397-08002B2CF9AE}" pid="3" name="ICV">
    <vt:lpwstr>85F8CFA3180A4774854D8D775609CA82_12</vt:lpwstr>
  </property>
</Properties>
</file>